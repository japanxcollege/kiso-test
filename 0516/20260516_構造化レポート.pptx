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ISM法・DEMATEL法・因果ループ図による</a:t>
            </a:r>
          </a:p>
          <a:p>
            <a:r>
              <a:t>問題構造化レポート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システム工学基礎（第2回課題）</a:t>
            </a:r>
          </a:p>
          <a:p>
            <a:r>
              <a:t>03-240974  高木俊輔</a:t>
            </a:r>
          </a:p>
          <a:p>
            <a:r>
              <a:t>2026年5月16日提出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設問1：解決したい問題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【問題の明示】</a:t>
            </a:r>
          </a:p>
          <a:p>
            <a:pPr>
              <a:defRPr sz="1600"/>
            </a:pPr>
            <a:r>
              <a:t>大学4年次において、必修・選択科目の単位取得とGPAを「安定的に」確保する。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【現状と理想のギャップ】</a:t>
            </a:r>
          </a:p>
          <a:p>
            <a:pPr>
              <a:defRPr sz="1600"/>
            </a:pPr>
            <a:r>
              <a:t>・理想：全科目でC以上、留年・単位不足リスクを排除したGPA 2.5以上</a:t>
            </a:r>
          </a:p>
          <a:p>
            <a:pPr>
              <a:defRPr sz="1600"/>
            </a:pPr>
            <a:r>
              <a:t>・現状：バイト・課外と学習の競合、睡眠不足、計画性不足で成績がぶれやすい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【境界設定（認識論的境界）】</a:t>
            </a:r>
          </a:p>
          <a:p>
            <a:pPr>
              <a:defRPr sz="1600"/>
            </a:pPr>
            <a:r>
              <a:t>・含む：学習行動、生活リズム、授業内の理解、評価（試験・レポート）</a:t>
            </a:r>
          </a:p>
          <a:p>
            <a:pPr>
              <a:defRPr sz="1600"/>
            </a:pPr>
            <a:r>
              <a:t>・含まない：就活面接スキル、大学制度変更、経済的支援（奨学金等）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【選定理由】</a:t>
            </a:r>
          </a:p>
          <a:p>
            <a:pPr>
              <a:defRPr sz="1600"/>
            </a:pPr>
            <a:r>
              <a:t>第1回小演習で挙げた「単位・睡眠・バイト」の資源競合を、構造分析で定式化する。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設問2：要素抽出（8要素）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GPA・単位取得</a:t>
            </a:r>
          </a:p>
          <a:p>
            <a:pPr>
              <a:defRPr sz="1800"/>
            </a:pPr>
            <a:r>
              <a:t>2. 試験・レポートの質</a:t>
            </a:r>
          </a:p>
          <a:p>
            <a:pPr>
              <a:defRPr sz="1800"/>
            </a:pPr>
            <a:r>
              <a:t>3. 学習時間の確保</a:t>
            </a:r>
          </a:p>
          <a:p>
            <a:pPr>
              <a:defRPr sz="1800"/>
            </a:pPr>
            <a:r>
              <a:t>4. 睡眠・体調管理</a:t>
            </a:r>
          </a:p>
          <a:p>
            <a:pPr>
              <a:defRPr sz="1800"/>
            </a:pPr>
            <a:r>
              <a:t>5. 授業内容の理解</a:t>
            </a:r>
          </a:p>
          <a:p>
            <a:pPr>
              <a:defRPr sz="1800"/>
            </a:pPr>
            <a:r>
              <a:t>6. 学習意欲・ストレス</a:t>
            </a:r>
          </a:p>
          <a:p>
            <a:pPr>
              <a:defRPr sz="1800"/>
            </a:pPr>
            <a:r>
              <a:t>7. バイト・課外の負荷</a:t>
            </a:r>
          </a:p>
          <a:p>
            <a:pPr>
              <a:defRPr sz="1800"/>
            </a:pPr>
            <a:r>
              <a:t>8. 学習環境（集中）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専門家（本人）による一対比較で「i が j に影響するか」を判定（0/1）。</a:t>
            </a:r>
          </a:p>
          <a:p>
            <a:pPr>
              <a:defRPr sz="1800"/>
            </a:pPr>
            <a:r>
              <a:t>推移律を仮定：間接影響は直接判定を省略可能。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設問2：隣接行列（構造行列）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要素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1:GPA・単位取得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2:試験・レポートの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3:学習時間の確保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4:睡眠・体調管理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5:授業内容の理解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6:学習意欲・ストレ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7:バイト・課外の負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8:学習環境（集中）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設問2：メンタルモデルとの比較（反復）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【初期メンタルモデル】</a:t>
            </a:r>
          </a:p>
          <a:p>
            <a:pPr>
              <a:defRPr sz="1500"/>
            </a:pPr>
            <a:r>
              <a:t>「学習時間↑→成績↑」「出席↑→理解↑」が中心。バイトは時間を奪う要因程度。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【第1反復】可到達行列・階層化後</a:t>
            </a:r>
          </a:p>
          <a:p>
            <a:pPr>
              <a:defRPr sz="1500"/>
            </a:pPr>
            <a:r>
              <a:t>・GPAは最上位、バイト・課外が最下位（根本原因側）と判明</a:t>
            </a:r>
          </a:p>
          <a:p>
            <a:pPr>
              <a:defRPr sz="1500"/>
            </a:pPr>
            <a:r>
              <a:t>・睡眠→意欲→学習時間の連鎖が中間層に現れた → 睡眠の辺を追加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【第2反復】骨格行列（スケルトン）抽出後</a:t>
            </a:r>
          </a:p>
          <a:p>
            <a:pPr>
              <a:defRPr sz="1500"/>
            </a:pPr>
            <a:r>
              <a:t>・学習時間→試験質の直接辺は、理解を介する推移で冗長 → 削除</a:t>
            </a:r>
          </a:p>
          <a:p>
            <a:pPr>
              <a:defRPr sz="1500"/>
            </a:pPr>
            <a:r>
              <a:t>・バイト→学習時間の直接辺も、睡眠・意欲経由で冗長 → 削除</a:t>
            </a:r>
          </a:p>
          <a:p>
            <a:pPr>
              <a:defRPr sz="1500"/>
            </a:pPr>
            <a:r>
              <a:t>・残った7本の辺が「本質的な直接因果」のスケルトン</a:t>
            </a:r>
          </a:p>
          <a:p>
            <a:pPr>
              <a:defRPr sz="1500"/>
            </a:pPr>
          </a:p>
          <a:p>
            <a:pPr>
              <a:defRPr sz="1500"/>
            </a:pPr>
            <a:r>
              <a:t>→ メンタルモデルは「時間投入＝成績」と短絡していた点を修正。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設問2：ISM階層構造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レベル1（結果側↑）: 1:GPA・単位取得</a:t>
            </a:r>
          </a:p>
          <a:p>
            <a:pPr>
              <a:defRPr sz="1400"/>
            </a:pPr>
            <a:r>
              <a:t>レベル2（結果側↑）: 2:試験・レポートの質</a:t>
            </a:r>
          </a:p>
          <a:p>
            <a:pPr>
              <a:defRPr sz="1400"/>
            </a:pPr>
            <a:r>
              <a:t>レベル3（結果側↑）: 5:授業内容の理解</a:t>
            </a:r>
          </a:p>
          <a:p>
            <a:pPr>
              <a:defRPr sz="1400"/>
            </a:pPr>
            <a:r>
              <a:t>レベル4（結果側↑）: 3:学習時間の確保</a:t>
            </a:r>
          </a:p>
          <a:p>
            <a:pPr>
              <a:defRPr sz="1400"/>
            </a:pPr>
            <a:r>
              <a:t>レベル5（結果側↑）: 6:学習意欲・ストレス, 8:学習環境（集中）</a:t>
            </a:r>
          </a:p>
          <a:p>
            <a:pPr>
              <a:defRPr sz="1400"/>
            </a:pPr>
            <a:r>
              <a:t>レベル6（結果側↑）: 4:睡眠・体調管理</a:t>
            </a:r>
          </a:p>
          <a:p>
            <a:pPr>
              <a:defRPr sz="1400"/>
            </a:pPr>
            <a:r>
              <a:t>レベル7（結果側↑）: 7:バイト・課外の負荷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解釈：下位＝原因系、上位＝結果系。単位・GPAはシステムの「出口」。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設問2：骨格行列（スケルトン）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2→1: 試験・レポートの質 → GPA・単位取得</a:t>
            </a:r>
          </a:p>
          <a:p>
            <a:pPr>
              <a:defRPr sz="1400"/>
            </a:pPr>
            <a:r>
              <a:t>3→5: 学習時間の確保 → 授業内容の理解</a:t>
            </a:r>
          </a:p>
          <a:p>
            <a:pPr>
              <a:defRPr sz="1400"/>
            </a:pPr>
            <a:r>
              <a:t>4→6: 睡眠・体調管理 → 学習意欲・ストレス</a:t>
            </a:r>
          </a:p>
          <a:p>
            <a:pPr>
              <a:defRPr sz="1400"/>
            </a:pPr>
            <a:r>
              <a:t>5→2: 授業内容の理解 → 試験・レポートの質</a:t>
            </a:r>
          </a:p>
          <a:p>
            <a:pPr>
              <a:defRPr sz="1400"/>
            </a:pPr>
            <a:r>
              <a:t>6→3: 学習意欲・ストレス → 学習時間の確保</a:t>
            </a:r>
          </a:p>
          <a:p>
            <a:pPr>
              <a:defRPr sz="1400"/>
            </a:pPr>
            <a:r>
              <a:t>7→4: バイト・課外の負荷 → 睡眠・体調管理</a:t>
            </a:r>
          </a:p>
          <a:p>
            <a:pPr>
              <a:defRPr sz="1400"/>
            </a:pPr>
            <a:r>
              <a:t>8→3: 学習環境（集中） → 学習時間の確保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設問2：可到達行列（抜粋・解釈）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全要素間で到達可能（連結）。ブール積の収束後、</a:t>
            </a:r>
          </a:p>
          <a:p>
            <a:pPr>
              <a:defRPr sz="1600"/>
            </a:pPr>
            <a:r>
              <a:t>レベル7（バイト）からレベル1（GPA）へ一方向の因果連鎖が確認された。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R∩A=R を満たす要素から順に抽出 → 7段階の階層。</a:t>
            </a:r>
          </a:p>
          <a:p>
            <a:pPr>
              <a:defRPr sz="1600"/>
            </a:pPr>
            <a:r>
              <a:t>計算：2026_ISM-DEMATEL.xlsm / ism_dematel.html で検証。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設問3：DEMATEL（直接影響 0〜4）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ISMの0/1に加え、影響の「強さ」を専門家評価（0=なし, 4=非常に強い）。</a:t>
            </a:r>
          </a:p>
          <a:p>
            <a:pPr>
              <a:defRPr sz="1600"/>
            </a:pPr>
            <a:r>
              <a:t>例：バイト→学習時間=4、睡眠→試験質=3、試験質→GPA=4</a:t>
            </a:r>
          </a:p>
          <a:p>
            <a:pPr>
              <a:defRPr sz="1600"/>
            </a:pPr>
            <a:r>
              <a:t>正規化 N = X / max(行和, 列和)、総合影響 T = N(I−N)⁻¹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設問3：DEMATEL 影響度・関連度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要素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D+R(関連度)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D-R(影響度)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分類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1.GPA・単位取得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結果系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2.試験・レポートの質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-1.387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結果系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3.学習時間の確保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結果系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4.睡眠・体調管理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原因系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5.授業内容の理解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結果系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6.学習意欲・ストレス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原因系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7.バイト・課外の負荷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原因系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8.学習環境（集中）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原因系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設問3：影響関係の強さの議論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【原因系（D−R &gt; 0）】</a:t>
            </a:r>
          </a:p>
          <a:p>
            <a:pPr>
              <a:defRPr sz="1400"/>
            </a:pPr>
            <a:r>
              <a:t>・バイト・課外（+1.18）：他要素への純送出が最大。時間・睡眠を圧迫する起点。</a:t>
            </a:r>
          </a:p>
          <a:p>
            <a:pPr>
              <a:defRPr sz="1400"/>
            </a:pPr>
            <a:r>
              <a:t>・睡眠・体調（+0.69）：意欲・理解への間接影響が大きい基盤要因。</a:t>
            </a:r>
          </a:p>
          <a:p>
            <a:pPr>
              <a:defRPr sz="1400"/>
            </a:pPr>
            <a:r>
              <a:t>・学習環境（+0.59）：時間配分の効率を左右するが、単独では出口に届きにくい。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【結果系（D−R &lt; 0）】</a:t>
            </a:r>
          </a:p>
          <a:p>
            <a:pPr>
              <a:defRPr sz="1400"/>
            </a:pPr>
            <a:r>
              <a:t>・試験・レポートの質（−1.39）：関連度(D+R)も最大→システムの「ハブ」</a:t>
            </a:r>
          </a:p>
          <a:p>
            <a:pPr>
              <a:defRPr sz="1400"/>
            </a:pPr>
            <a:r>
              <a:t>・GPA・単位（−1.00）：純粋な結果変数。他からの影響を最も受ける。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【ISMとの整合】</a:t>
            </a:r>
          </a:p>
          <a:p>
            <a:pPr>
              <a:defRPr sz="1400"/>
            </a:pPr>
            <a:r>
              <a:t>階層の最下位＝DEMATEL原因系、最上位＝結果系で一致。</a:t>
            </a:r>
          </a:p>
          <a:p>
            <a:pPr>
              <a:defRPr sz="1400"/>
            </a:pPr>
            <a:r>
              <a:t>媒介要素（学習時間・理解）は関連度が高く、改善のレバー候補。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設問4：因果ループ図（CLD）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300"/>
            </a:pPr>
            <a:r>
              <a:t>骨格構造を動的フィードバックとして再記述（第3回講義の記法）。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【強化ループ R1：好循環】</a:t>
            </a:r>
          </a:p>
          <a:p>
            <a:pPr>
              <a:defRPr sz="1300"/>
            </a:pPr>
            <a:r>
              <a:t>学習意欲↑─(S)→学習時間↑─(S)→理解↑─(S)→成績↑─(S)→自信↑─(S)→意欲↑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【バランスループ B1：バイトの負荷】</a:t>
            </a:r>
          </a:p>
          <a:p>
            <a:pPr>
              <a:defRPr sz="1300"/>
            </a:pPr>
            <a:r>
              <a:t>バイト時間↑─(O)→学習時間↓─(O)→成績↓─(S)→経済不安↑─(S)→バイト時間↑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【バランスループ B2：睡眠不足】</a:t>
            </a:r>
          </a:p>
          <a:p>
            <a:pPr>
              <a:defRPr sz="1300"/>
            </a:pPr>
            <a:r>
              <a:t>睡眠不足↑─(O)→集中↓─(O)→成績↓─(S)→焦り↑─(O)→睡眠時間↓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【本質の把握】</a:t>
            </a:r>
          </a:p>
          <a:p>
            <a:pPr>
              <a:defRPr sz="1300"/>
            </a:pPr>
            <a:r>
              <a:t>単位問題は「努力不足」だけでなく、B1・B2の負のループが</a:t>
            </a:r>
          </a:p>
          <a:p>
            <a:pPr>
              <a:defRPr sz="1300"/>
            </a:pPr>
            <a:r>
              <a:t>R1を抑制している構造。介入はバイト量・睡眠の境界調整が有効。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ISM：階層と骨格で「何が何に先行するか」を整理</a:t>
            </a:r>
          </a:p>
          <a:p>
            <a:pPr>
              <a:defRPr sz="1800"/>
            </a:pPr>
            <a:r>
              <a:t>DEMATEL：原因系/結果系と影響の強さを定量比較</a:t>
            </a:r>
          </a:p>
          <a:p>
            <a:pPr>
              <a:defRPr sz="1800"/>
            </a:pPr>
            <a:r>
              <a:t>CLD：時間経過でのフィードバック（好循環・悪循環）を可視化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問題の本質：成績（GPA）以前に、生活リズムと資源配分の構造がボトルネック。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使用ツール：2026_ISM-DEMATEL.xlsm（同等計算：ism_dematel.html）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